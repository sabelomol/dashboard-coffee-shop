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Monthly Revenue (R, thousands)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(R, thousands)</c:v>
                </c:pt>
              </c:strCache>
            </c:strRef>
          </c:tx>
          <c:spPr>
            <a:solidFill>
              <a:srgbClr val="FF3D7F"/>
            </a:solidFill>
            <a:ln w="50800" cap="flat">
              <a:solidFill>
                <a:srgbClr val="FF3D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FF3D7F"/>
              </a:solidFill>
              <a:ln w="9525" cap="flat">
                <a:solidFill>
                  <a:srgbClr val="FF3D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81.7</c:v>
                </c:pt>
                <c:pt idx="1">
                  <c:v>76.1</c:v>
                </c:pt>
                <c:pt idx="2">
                  <c:v>98.8</c:v>
                </c:pt>
                <c:pt idx="3">
                  <c:v>118.9</c:v>
                </c:pt>
                <c:pt idx="4">
                  <c:v>156.7</c:v>
                </c:pt>
                <c:pt idx="5">
                  <c:v>166.5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Monthly Revenue (R,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(R, thousands)</c:v>
                </c:pt>
              </c:strCache>
            </c:strRef>
          </c:tx>
          <c:spPr>
            <a:solidFill>
              <a:srgbClr val="FF3D7F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D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85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81.7</c:v>
                </c:pt>
                <c:pt idx="1">
                  <c:v>76.1</c:v>
                </c:pt>
                <c:pt idx="2">
                  <c:v>98.8</c:v>
                </c:pt>
                <c:pt idx="3">
                  <c:v>118.9</c:v>
                </c:pt>
                <c:pt idx="4">
                  <c:v>156.7</c:v>
                </c:pt>
                <c:pt idx="5">
                  <c:v>166.5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Revenue Share by Category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3D7F"/>
              </a:solidFill>
              <a:effectLst/>
            </c:spPr>
          </c:dPt>
          <c:dPt>
            <c:idx val="1"/>
            <c:bubble3D val="0"/>
            <c:spPr>
              <a:solidFill>
                <a:srgbClr val="7B2CBF"/>
              </a:solidFill>
              <a:effectLst/>
            </c:spPr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</c:dPt>
          <c:dPt>
            <c:idx val="3"/>
            <c:bubble3D val="0"/>
            <c:spPr>
              <a:solidFill>
                <a:srgbClr val="4CC9F0"/>
              </a:solidFill>
              <a:effectLst/>
            </c:spPr>
          </c:dPt>
          <c:dPt>
            <c:idx val="4"/>
            <c:bubble3D val="0"/>
            <c:spPr>
              <a:solidFill>
                <a:srgbClr val="FFD60A"/>
              </a:solidFill>
              <a:effectLst/>
            </c:spPr>
          </c:dPt>
          <c:dPt>
            <c:idx val="5"/>
            <c:bubble3D val="0"/>
            <c:spPr>
              <a:solidFill>
                <a:srgbClr val="FB85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38.6</c:v>
                </c:pt>
                <c:pt idx="1">
                  <c:v>28.1</c:v>
                </c:pt>
                <c:pt idx="2">
                  <c:v>11.4</c:v>
                </c:pt>
                <c:pt idx="3">
                  <c:v>8.4</c:v>
                </c:pt>
                <c:pt idx="4">
                  <c:v>7.9</c:v>
                </c:pt>
                <c:pt idx="5">
                  <c:v>5.6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Top 10 Products by Revenue (R, 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(R, thousands)</c:v>
                </c:pt>
              </c:strCache>
            </c:strRef>
          </c:tx>
          <c:spPr>
            <a:solidFill>
              <a:srgbClr val="FF3D7F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D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85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5651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3D7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Barista Espresso</c:v>
                  </c:pt>
                  <c:pt idx="1">
                    <c:v>Brewed Chai Tea</c:v>
                  </c:pt>
                  <c:pt idx="2">
                    <c:v>Hot Chocolate</c:v>
                  </c:pt>
                  <c:pt idx="3">
                    <c:v>Brewed Black Tea</c:v>
                  </c:pt>
                  <c:pt idx="4">
                    <c:v>Latte</c:v>
                  </c:pt>
                  <c:pt idx="5">
                    <c:v>Cappuccino</c:v>
                  </c:pt>
                  <c:pt idx="6">
                    <c:v>Brewed Herbal Tea</c:v>
                  </c:pt>
                  <c:pt idx="7">
                    <c:v>Brewed Green Tea</c:v>
                  </c:pt>
                  <c:pt idx="8">
                    <c:v>Gourmet Brewed Coffee</c:v>
                  </c:pt>
                  <c:pt idx="9">
                    <c:v>Premium Brewed Coffee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91.4</c:v>
                </c:pt>
                <c:pt idx="1">
                  <c:v>77.1</c:v>
                </c:pt>
                <c:pt idx="2">
                  <c:v>72.4</c:v>
                </c:pt>
                <c:pt idx="3">
                  <c:v>47.9</c:v>
                </c:pt>
                <c:pt idx="4">
                  <c:v>47.5</c:v>
                </c:pt>
                <c:pt idx="5">
                  <c:v>41.3</c:v>
                </c:pt>
                <c:pt idx="6">
                  <c:v>35</c:v>
                </c:pt>
                <c:pt idx="7">
                  <c:v>32.9</c:v>
                </c:pt>
                <c:pt idx="8">
                  <c:v>32.1</c:v>
                </c:pt>
                <c:pt idx="9">
                  <c:v>30.4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Gender Split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3D7F"/>
              </a:solidFill>
              <a:effectLst/>
            </c:spPr>
          </c:dPt>
          <c:dPt>
            <c:idx val="1"/>
            <c:bubble3D val="0"/>
            <c:spPr>
              <a:solidFill>
                <a:srgbClr val="4CC9F0"/>
              </a:solidFill>
              <a:effectLst/>
            </c:spPr>
          </c:dPt>
          <c:dPt>
            <c:idx val="2"/>
            <c:bubble3D val="0"/>
            <c:spPr>
              <a:solidFill>
                <a:srgbClr val="FFD60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</c:v>
                </c:pt>
                <c:pt idx="1">
                  <c:v>43</c:v>
                </c:pt>
                <c:pt idx="2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Revenue by Store (R,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(R, thousands)</c:v>
                </c:pt>
              </c:strCache>
            </c:strRef>
          </c:tx>
          <c:spPr>
            <a:solidFill>
              <a:srgbClr val="FF3D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D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Hell's Kitchen</c:v>
                  </c:pt>
                  <c:pt idx="1">
                    <c:v>Astoria</c:v>
                  </c:pt>
                  <c:pt idx="2">
                    <c:v>Lower Manhattan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236.5</c:v>
                </c:pt>
                <c:pt idx="1">
                  <c:v>232.2</c:v>
                </c:pt>
                <c:pt idx="2">
                  <c:v>230.1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B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1810"/>
                </a:solidFill>
                <a:latin typeface="Arial"/>
              </a:rPr>
              <a:t>Monthly Transactions (thousands)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 (thousands)</c:v>
                </c:pt>
              </c:strCache>
            </c:strRef>
          </c:tx>
          <c:spPr>
            <a:solidFill>
              <a:srgbClr val="4CC9F0">
                <a:alpha val="6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17.6</c:v>
                </c:pt>
                <c:pt idx="1">
                  <c:v>16.4</c:v>
                </c:pt>
                <c:pt idx="2">
                  <c:v>21.2</c:v>
                </c:pt>
                <c:pt idx="3">
                  <c:v>25.4</c:v>
                </c:pt>
                <c:pt idx="4">
                  <c:v>33.5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1810"/>
                </a:solidFill>
                <a:latin typeface="Arial"/>
              </a:rPr>
              <a:t>Transactions by Category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 (thousands)</c:v>
                </c:pt>
              </c:strCache>
            </c:strRef>
          </c:tx>
          <c:spPr>
            <a:solidFill>
              <a:srgbClr val="FF3D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8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D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85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58.4</c:v>
                </c:pt>
                <c:pt idx="1">
                  <c:v>45.2</c:v>
                </c:pt>
                <c:pt idx="2">
                  <c:v>22.7</c:v>
                </c:pt>
                <c:pt idx="3">
                  <c:v>10.5</c:v>
                </c:pt>
                <c:pt idx="4">
                  <c:v>4.3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8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81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1810"/>
                </a:solidFill>
                <a:latin typeface="Arial"/>
              </a:rPr>
              <a:t>Transactions by Hour of Day (thousands)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 (thousands)</c:v>
                </c:pt>
              </c:strCache>
            </c:strRef>
          </c:tx>
          <c:spPr>
            <a:solidFill>
              <a:srgbClr val="7B2CBF"/>
            </a:solidFill>
            <a:ln w="38100" cap="flat">
              <a:solidFill>
                <a:srgbClr val="7B2C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7B2CBF"/>
              </a:solidFill>
              <a:ln w="9525" cap="flat">
                <a:solidFill>
                  <a:srgbClr val="7B2C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6am</c:v>
                  </c:pt>
                  <c:pt idx="1">
                    <c:v>7am</c:v>
                  </c:pt>
                  <c:pt idx="2">
                    <c:v>8am</c:v>
                  </c:pt>
                  <c:pt idx="3">
                    <c:v>9am</c:v>
                  </c:pt>
                  <c:pt idx="4">
                    <c:v>10am</c:v>
                  </c:pt>
                  <c:pt idx="5">
                    <c:v>11am</c:v>
                  </c:pt>
                  <c:pt idx="6">
                    <c:v>12pm</c:v>
                  </c:pt>
                  <c:pt idx="7">
                    <c:v>1pm</c:v>
                  </c:pt>
                  <c:pt idx="8">
                    <c:v>2pm</c:v>
                  </c:pt>
                  <c:pt idx="9">
                    <c:v>3pm</c:v>
                  </c:pt>
                  <c:pt idx="10">
                    <c:v>4pm</c:v>
                  </c:pt>
                  <c:pt idx="11">
                    <c:v>5pm</c:v>
                  </c:pt>
                  <c:pt idx="12">
                    <c:v>6pm</c:v>
                  </c:pt>
                  <c:pt idx="13">
                    <c:v>7pm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3.2</c:v>
                </c:pt>
                <c:pt idx="1">
                  <c:v>9.8</c:v>
                </c:pt>
                <c:pt idx="2">
                  <c:v>14.1</c:v>
                </c:pt>
                <c:pt idx="3">
                  <c:v>15.6</c:v>
                </c:pt>
                <c:pt idx="4">
                  <c:v>16.8</c:v>
                </c:pt>
                <c:pt idx="5">
                  <c:v>14.2</c:v>
                </c:pt>
                <c:pt idx="6">
                  <c:v>12.5</c:v>
                </c:pt>
                <c:pt idx="7">
                  <c:v>11</c:v>
                </c:pt>
                <c:pt idx="8">
                  <c:v>9.7</c:v>
                </c:pt>
                <c:pt idx="9">
                  <c:v>8.9</c:v>
                </c:pt>
                <c:pt idx="10">
                  <c:v>8.4</c:v>
                </c:pt>
                <c:pt idx="11">
                  <c:v>7.6</c:v>
                </c:pt>
                <c:pt idx="12">
                  <c:v>6.5</c:v>
                </c:pt>
                <c:pt idx="13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0"/>
            <a:ext cx="5029200" cy="5029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4114800" cy="4114800"/>
          </a:xfrm>
          <a:prstGeom prst="ellipse">
            <a:avLst/>
          </a:prstGeom>
          <a:solidFill>
            <a:srgbClr val="FFE8C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13716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2B1810"/>
                </a:solidFill>
              </a:rPr>
              <a:t>☕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640080" y="5760720"/>
            <a:ext cx="274320" cy="27432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76072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5760720"/>
            <a:ext cx="274320" cy="27432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5760720"/>
            <a:ext cx="274320" cy="27432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Dashboard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371600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bean to insight: a complete sales,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customer story.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•  R 698K   |   Transactions  •  149K   |   Stores  • 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South African Rand (R / ZAR)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and revenue trajectory at a glance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28016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280160"/>
            <a:ext cx="2743200" cy="16459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698K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383280" y="128016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280160"/>
            <a:ext cx="2743200" cy="164592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309360" y="128016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280160"/>
            <a:ext cx="2743200" cy="1645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4.69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9235440" y="12801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1280160"/>
            <a:ext cx="2468880" cy="16459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8" name="Text 26"/>
          <p:cNvSpPr/>
          <p:nvPr/>
        </p:nvSpPr>
        <p:spPr>
          <a:xfrm>
            <a:off x="937260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7260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57200" y="2560320"/>
          <a:ext cx="7772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8503920" y="269748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641080" y="2880360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3" name="Text 30"/>
          <p:cNvSpPr/>
          <p:nvPr/>
        </p:nvSpPr>
        <p:spPr>
          <a:xfrm>
            <a:off x="8641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↑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23544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</a:rPr>
              <a:t>Growth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2354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+103% Jan→Jun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503920" y="3657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41080" y="3840480"/>
            <a:ext cx="502920" cy="50292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38" name="Text 35"/>
          <p:cNvSpPr/>
          <p:nvPr/>
        </p:nvSpPr>
        <p:spPr>
          <a:xfrm>
            <a:off x="8641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★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92354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</a:rPr>
              <a:t>Peak Month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2354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June R 166.5K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503920" y="461772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41080" y="480060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3" name="Text 40"/>
          <p:cNvSpPr/>
          <p:nvPr/>
        </p:nvSpPr>
        <p:spPr>
          <a:xfrm>
            <a:off x="8641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235440" y="4709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</a:rPr>
              <a:t>Best Day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23544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</a:rPr>
              <a:t>Weekday mornings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503920" y="557784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41080" y="5760720"/>
            <a:ext cx="502920" cy="50292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8" name="Text 45"/>
          <p:cNvSpPr/>
          <p:nvPr/>
        </p:nvSpPr>
        <p:spPr>
          <a:xfrm>
            <a:off x="8641080" y="5760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9235440" y="5669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</a:rPr>
              <a:t>Top Category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9235440" y="5989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7F"/>
                </a:solidFill>
              </a:rPr>
              <a:t>Coffee 38.6%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Seasonality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shows strong upward momentum into summer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280160"/>
          <a:ext cx="758952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321040" y="13716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1371600"/>
            <a:ext cx="137160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</a:rPr>
              <a:t>Peak Month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9536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June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9536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D7F"/>
                </a:solidFill>
              </a:rPr>
              <a:t>R 166.5K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65176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21040" y="2651760"/>
            <a:ext cx="137160" cy="109728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2" name="Text 19"/>
          <p:cNvSpPr/>
          <p:nvPr/>
        </p:nvSpPr>
        <p:spPr>
          <a:xfrm>
            <a:off x="859536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</a:rPr>
              <a:t>Slowest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9536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February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59536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2CBF"/>
                </a:solidFill>
              </a:rPr>
              <a:t>R 76.1K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21040" y="393192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3931920"/>
            <a:ext cx="137160" cy="10972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4"/>
          <p:cNvSpPr/>
          <p:nvPr/>
        </p:nvSpPr>
        <p:spPr>
          <a:xfrm>
            <a:off x="859536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</a:rPr>
              <a:t>Avg / Month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9536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6 mo avg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595360" y="4572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</a:rPr>
              <a:t>R 116.5K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321040" y="521208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21040" y="5212080"/>
            <a:ext cx="137160" cy="10972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2" name="Text 29"/>
          <p:cNvSpPr/>
          <p:nvPr/>
        </p:nvSpPr>
        <p:spPr>
          <a:xfrm>
            <a:off x="8595360" y="5303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</a:rPr>
              <a:t>MoM Trend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59536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Mar→Jun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95360" y="5852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</a:rPr>
              <a:t>Up every month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leads, but tea and bakery hold meaningful share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280160"/>
          <a:ext cx="59436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766560" y="14630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F3D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03720" y="1627632"/>
            <a:ext cx="384048" cy="384048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Coffee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3D7F"/>
                </a:solidFill>
              </a:rPr>
              <a:t>38.6%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66560" y="2304288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03720" y="2468880"/>
            <a:ext cx="384048" cy="384048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640" y="2441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Tea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15600" y="24414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B2CBF"/>
                </a:solidFill>
              </a:rPr>
              <a:t>28.1%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66560" y="3145536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03720" y="3310128"/>
            <a:ext cx="384048" cy="38404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5" name="Text 22"/>
          <p:cNvSpPr/>
          <p:nvPr/>
        </p:nvSpPr>
        <p:spPr>
          <a:xfrm>
            <a:off x="7406640" y="32826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Bakery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515600" y="32826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>11.4%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766560" y="3986784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03720" y="4151376"/>
            <a:ext cx="384048" cy="384048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9" name="Text 26"/>
          <p:cNvSpPr/>
          <p:nvPr/>
        </p:nvSpPr>
        <p:spPr>
          <a:xfrm>
            <a:off x="7406640" y="41239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Drinking Chocolate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515600" y="41239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CC9F0"/>
                </a:solidFill>
              </a:rPr>
              <a:t>8.4%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766560" y="4828032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03720" y="4992624"/>
            <a:ext cx="384048" cy="38404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33" name="Text 30"/>
          <p:cNvSpPr/>
          <p:nvPr/>
        </p:nvSpPr>
        <p:spPr>
          <a:xfrm>
            <a:off x="7406640" y="4965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Coffee Beans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515600" y="49651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60A"/>
                </a:solidFill>
              </a:rPr>
              <a:t>7.9%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766560" y="566928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B85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03720" y="5833872"/>
            <a:ext cx="384048" cy="384048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7" name="Text 34"/>
          <p:cNvSpPr/>
          <p:nvPr/>
        </p:nvSpPr>
        <p:spPr>
          <a:xfrm>
            <a:off x="7406640" y="5806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Other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515600" y="5806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8500"/>
                </a:solidFill>
              </a:rPr>
              <a:t>5.6%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in Demand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Espresso-based drinks dominate the bestseller list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280160"/>
          <a:ext cx="1124712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customer base with a slight female lead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280160"/>
          <a:ext cx="59436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766560" y="1554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1554480"/>
            <a:ext cx="5029200" cy="1828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3D7F"/>
                </a:solidFill>
              </a:rPr>
              <a:t>54%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869680" y="1828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810"/>
                </a:solidFill>
              </a:rPr>
              <a:t>Female Customers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66560" y="31089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3108960"/>
            <a:ext cx="5029200" cy="1828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3383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CC9F0"/>
                </a:solidFill>
              </a:rPr>
              <a:t>43%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8869680" y="3383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810"/>
                </a:solidFill>
              </a:rPr>
              <a:t>Male Customers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6656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4663440"/>
            <a:ext cx="5029200" cy="18288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49377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60A"/>
                </a:solidFill>
              </a:rPr>
              <a:t>3%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8869680" y="4937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810"/>
                </a:solidFill>
              </a:rPr>
              <a:t>Other / Unspecified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locations, three distinct revenue stories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280160"/>
          <a:ext cx="73152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046720" y="146304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1463040"/>
            <a:ext cx="182880" cy="15544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Hell's Kitchen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2104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D7F"/>
                </a:solidFill>
              </a:rPr>
              <a:t>R 236.5K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2104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34% share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0" y="315468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0" y="3154680"/>
            <a:ext cx="182880" cy="155448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2" name="Text 19"/>
          <p:cNvSpPr/>
          <p:nvPr/>
        </p:nvSpPr>
        <p:spPr>
          <a:xfrm>
            <a:off x="832104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Astoria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32104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BF"/>
                </a:solidFill>
              </a:rPr>
              <a:t>R 232.2K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32104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33% share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46720" y="484632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0" y="4846320"/>
            <a:ext cx="182880" cy="1554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4"/>
          <p:cNvSpPr/>
          <p:nvPr/>
        </p:nvSpPr>
        <p:spPr>
          <a:xfrm>
            <a:off x="832104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</a:rPr>
              <a:t>Lower Manhattan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321040" y="5349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</a:rPr>
              <a:t>R 230.1K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8321040" y="5943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33% share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in customer visits month over month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280160"/>
          <a:ext cx="77724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503920" y="137160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03920" y="1371600"/>
            <a:ext cx="3200400" cy="16459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7" name="Text 14"/>
          <p:cNvSpPr/>
          <p:nvPr/>
        </p:nvSpPr>
        <p:spPr>
          <a:xfrm>
            <a:off x="864108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41080" y="1874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8503920" y="260604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0" y="2606040"/>
            <a:ext cx="3200400" cy="164592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1" name="Text 18"/>
          <p:cNvSpPr/>
          <p:nvPr/>
        </p:nvSpPr>
        <p:spPr>
          <a:xfrm>
            <a:off x="864108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41080" y="3108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35K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8503920" y="384048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03920" y="3840480"/>
            <a:ext cx="3200400" cy="1645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2"/>
          <p:cNvSpPr/>
          <p:nvPr/>
        </p:nvSpPr>
        <p:spPr>
          <a:xfrm>
            <a:off x="864108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Month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641080" y="4343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24.9K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8503920" y="507492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03920" y="5074920"/>
            <a:ext cx="3200400" cy="16459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9" name="Text 26"/>
          <p:cNvSpPr/>
          <p:nvPr/>
        </p:nvSpPr>
        <p:spPr>
          <a:xfrm>
            <a:off x="8641080" y="5303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641080" y="5577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4.69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Category &amp; Hour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what customers buy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1280160"/>
          <a:ext cx="576072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263640" y="1280160"/>
          <a:ext cx="557784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— Project Overview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aim and scope of the case study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28016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280160"/>
            <a:ext cx="5577840" cy="4572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18288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A coffee shop chain operating across three locations had raw transaction data </a:t>
            </a:r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</a:rPr>
              <a:t>but no consolidated view </a:t>
            </a:r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of which products, stores, time-periods or customer segments were driving revenue.
</a:t>
            </a:r>
            <a:pPr indent="0" marL="0">
              <a:buNone/>
            </a:pPr>
            <a:r>
              <a:rPr lang="en-US" sz="1200" i="1" dirty="0">
                <a:solidFill>
                  <a:srgbClr val="2B1810"/>
                </a:solidFill>
              </a:rPr>
              <a:t>Decision-makers struggled to plan inventory, staffing and promotions without trusted, easy-to-read insights.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28016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80160"/>
            <a:ext cx="5577840" cy="4572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AIM OF THE PROJECT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8288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1810"/>
                </a:solidFill>
              </a:rPr>
              <a:t>Build a single, visual sales dashboard </a:t>
            </a:r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that turns raw point-of-sale records into actionable answers about:
</a:t>
            </a:r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• Revenue trends and seasonality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• Top-selling products and categories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• Store-level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• Customer demographics &amp; buying hours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112928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86200"/>
            <a:ext cx="1129284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OBJECTIVE — STEPS TAKEN TO SOLVE FOR THE AIM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4348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7F"/>
                </a:solidFill>
              </a:rPr>
              <a:t>Collect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7274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810"/>
                </a:solidFill>
              </a:rPr>
              <a:t>Imported raw POS transaction data (CSV/PDF).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4480560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37760" y="44348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CBF"/>
                </a:solidFill>
              </a:rPr>
              <a:t>Clean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47274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810"/>
                </a:solidFill>
              </a:rPr>
              <a:t>Removed duplicates, fixed types, standardised dates &amp; currency to Rand.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4480560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41080" y="44348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Explore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41080" y="47274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810"/>
                </a:solidFill>
              </a:rPr>
              <a:t>Profiled revenue, transactions, products, stores, hours.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34440" y="5486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</a:rPr>
              <a:t>Model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" y="57790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810"/>
                </a:solidFill>
              </a:rPr>
              <a:t>Aggregated KPIs: monthly revenue, category mix, top-N products.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43400" y="5532120"/>
            <a:ext cx="502920" cy="50292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42" name="Text 40"/>
          <p:cNvSpPr/>
          <p:nvPr/>
        </p:nvSpPr>
        <p:spPr>
          <a:xfrm>
            <a:off x="434340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937760" y="5486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Visualise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37760" y="57790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810"/>
                </a:solidFill>
              </a:rPr>
              <a:t>Built charts: line, bar, doughnut, area for each question.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5532120"/>
            <a:ext cx="502920" cy="50292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41080" y="5486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8500"/>
                </a:solidFill>
              </a:rPr>
              <a:t>Report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41080" y="57790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810"/>
                </a:solidFill>
              </a:rPr>
              <a:t>Packaged findings into this executive PowerPoint deck.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1440" y="91440"/>
            <a:ext cx="502920" cy="292608"/>
          </a:xfrm>
          <a:prstGeom prst="ellipse">
            <a:avLst/>
          </a:prstGeom>
          <a:solidFill>
            <a:srgbClr val="B5651D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430000" y="6400800"/>
            <a:ext cx="502920" cy="292608"/>
          </a:xfrm>
          <a:prstGeom prst="ellipse">
            <a:avLst/>
          </a:prstGeom>
          <a:solidFill>
            <a:srgbClr val="FB8500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300000">
            <a:off x="11521440" y="137160"/>
            <a:ext cx="502920" cy="292608"/>
          </a:xfrm>
          <a:prstGeom prst="ellipse">
            <a:avLst/>
          </a:prstGeom>
          <a:solidFill>
            <a:srgbClr val="FF3D7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200000">
            <a:off x="91440" y="6400800"/>
            <a:ext cx="502920" cy="292608"/>
          </a:xfrm>
          <a:prstGeom prst="ellipse">
            <a:avLst/>
          </a:prstGeom>
          <a:solidFill>
            <a:srgbClr val="7B2CBF"/>
          </a:solidFill>
          <a:ln w="6350">
            <a:solidFill>
              <a:srgbClr val="2B18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10789920" y="274320"/>
            <a:ext cx="54864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10927080" y="228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B18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27432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2286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— Results &amp; Tools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and what we used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280160"/>
            <a:ext cx="73152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25400">
            <a:solidFill>
              <a:srgbClr val="FF3D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280160"/>
            <a:ext cx="7315200" cy="4572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SUMMARY OF THE RESULTS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1947672"/>
            <a:ext cx="457200" cy="4572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1965960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Total revenue of R 698K across 149,116 transactions (avg ticket R 4.69).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2624328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Revenue more than doubled from January (R 81.7K) to June (R 166.5K) — strong upward trend.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264408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3282696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Coffee leads category mix at 38.6%, followed by Tea (28.1%) and Bakery (11.4%).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🏆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3941064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Top product: Barista Espresso (R 91.4K) — espresso-based drinks dominate.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581144"/>
            <a:ext cx="457200" cy="4572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81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599432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Customer base skews slightly female (54% F / 43% M / 3% other).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5239512"/>
            <a:ext cx="457200" cy="45720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🏬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160" y="5257800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Store revenues are tightly grouped — Hell's Kitchen leads marginally at R 236.5K.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89788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⏰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80160" y="5916168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810"/>
                </a:solidFill>
              </a:rPr>
              <a:t>Peak buying hours are 8–11am — staffing &amp; stock should mirror this curve.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55280" y="1280160"/>
            <a:ext cx="3840480" cy="5303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7B2C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187452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FF3D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1874520"/>
            <a:ext cx="109728" cy="6858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7F"/>
                </a:solidFill>
              </a:rPr>
              <a:t>Python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321040" y="2221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810"/>
                </a:solidFill>
              </a:rPr>
              <a:t>Data cleaning &amp; wrangling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38160" y="265176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2651760"/>
            <a:ext cx="109728" cy="6858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CBF"/>
                </a:solidFill>
              </a:rPr>
              <a:t>Pandas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321040" y="2999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810"/>
                </a:solidFill>
              </a:rPr>
              <a:t>Aggregation &amp; KPI calc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342900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3429000"/>
            <a:ext cx="109728" cy="6858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1" name="Text 49"/>
          <p:cNvSpPr/>
          <p:nvPr/>
        </p:nvSpPr>
        <p:spPr>
          <a:xfrm>
            <a:off x="832104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Excel / CSV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21040" y="3776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810"/>
                </a:solidFill>
              </a:rPr>
              <a:t>Source data format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38160" y="420624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4206240"/>
            <a:ext cx="109728" cy="6858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55" name="Text 53"/>
          <p:cNvSpPr/>
          <p:nvPr/>
        </p:nvSpPr>
        <p:spPr>
          <a:xfrm>
            <a:off x="832104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</a:rPr>
              <a:t>PowerPoint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1040" y="4553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810"/>
                </a:solidFill>
              </a:rPr>
              <a:t>Presentation layer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38160" y="498348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38160" y="4983480"/>
            <a:ext cx="109728" cy="6858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9" name="Text 57"/>
          <p:cNvSpPr/>
          <p:nvPr/>
        </p:nvSpPr>
        <p:spPr>
          <a:xfrm>
            <a:off x="832104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pptxgenjs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321040" y="5330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810"/>
                </a:solidFill>
              </a:rPr>
              <a:t>Programmatic slides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38160" y="576072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38160" y="5760720"/>
            <a:ext cx="109728" cy="6858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63" name="Text 61"/>
          <p:cNvSpPr/>
          <p:nvPr/>
        </p:nvSpPr>
        <p:spPr>
          <a:xfrm>
            <a:off x="832104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8500"/>
                </a:solidFill>
              </a:rPr>
              <a:t>Charts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321040" y="6108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810"/>
                </a:solidFill>
              </a:rPr>
              <a:t>Bar / Line / Doughnut / Area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5029200"/>
            <a:ext cx="914400" cy="9144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☕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E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 &amp; next steps welcome.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Dashboard  •  All amounts in South African Rand (R)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Shop Sales Dashboard</dc:title>
  <dc:subject>PptxGenJS Presentation</dc:subject>
  <dc:creator>PptxGenJS</dc:creator>
  <cp:lastModifiedBy>PptxGenJS</cp:lastModifiedBy>
  <cp:revision>1</cp:revision>
  <dcterms:created xsi:type="dcterms:W3CDTF">2026-05-12T06:29:22Z</dcterms:created>
  <dcterms:modified xsi:type="dcterms:W3CDTF">2026-05-12T06:29:22Z</dcterms:modified>
</cp:coreProperties>
</file>